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371600"/>
            <a:ext cx="2926080" cy="365760"/>
          </a:xfrm>
          <a:prstGeom prst="round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 VISION SAFETY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SafeZoo: AI 기반 동물원 통합 안전관제</a:t>
            </a:r>
          </a:p>
          <a:p>
            <a:pPr>
              <a:spcBef>
                <a:spcPts val="1200"/>
              </a:spcBef>
              <a:defRPr sz="2000">
                <a:solidFill>
                  <a:srgbClr val="B3B3B3"/>
                </a:solidFill>
              </a:defRPr>
            </a:pPr>
            <a:r>
              <a:t>YOLO 객체 추적 &amp; ROI 경계 감지 기반 실시간 위험 대응 플랫폼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10698480" cy="1371600"/>
          </a:xfrm>
          <a:prstGeom prst="roundRect">
            <a:avLst/>
          </a:prstGeom>
          <a:solidFill>
            <a:srgbClr val="232323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754880"/>
            <a:ext cx="10149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핵심 모듈: zoo_safety.py (비전 엔진)  |  zoo_vision.py (Gradio 관제 대시보드)</a:t>
            </a:r>
          </a:p>
          <a:p>
            <a:pPr>
              <a:spcBef>
                <a:spcPts val="800"/>
              </a:spcBef>
              <a:defRPr sz="1200">
                <a:solidFill>
                  <a:srgbClr val="B3B3B3"/>
                </a:solidFill>
              </a:defRPr>
            </a:pPr>
            <a:r>
              <a:t>주요 기능: Real-time Object Tracking • Safe/Danger Polygon ROI • Event Log CSV • Snapshot • Control Center Inbox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SAFEZOO CONTROL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동물원 안전 관리의 도전과제와 AI 관제 도입 필요성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232323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50914"/>
                </a:solidFill>
              </a:defRPr>
            </a:pPr>
            <a:r>
              <a:t>⚠️ 기존 수동 관제 방식의 한계</a:t>
            </a:r>
          </a:p>
          <a:p>
            <a:pPr>
              <a:spcBef>
                <a:spcPts val="1400"/>
              </a:spcBef>
              <a:defRPr sz="1300">
                <a:solidFill>
                  <a:srgbClr val="B3B3B3"/>
                </a:solidFill>
              </a:defRPr>
            </a:pPr>
            <a:r>
              <a:t>• 넓은 사육장 및 관람 구역으로 인한 모니터링 사각지대 존재</a:t>
            </a:r>
          </a:p>
          <a:p>
            <a:pPr>
              <a:spcBef>
                <a:spcPts val="1400"/>
              </a:spcBef>
              <a:defRPr sz="1300">
                <a:solidFill>
                  <a:srgbClr val="B3B3B3"/>
                </a:solidFill>
              </a:defRPr>
            </a:pPr>
            <a:r>
              <a:t>• 다수 CCTV 화면 동시 감시 시 관제요원 피로도 증가 및 골든타임 누락</a:t>
            </a:r>
          </a:p>
          <a:p>
            <a:pPr>
              <a:spcBef>
                <a:spcPts val="1400"/>
              </a:spcBef>
              <a:defRPr sz="1300">
                <a:solidFill>
                  <a:srgbClr val="B3B3B3"/>
                </a:solidFill>
              </a:defRPr>
            </a:pPr>
            <a:r>
              <a:t>• 동물 사육장 이탈 또는 관람객 위험구역 침범 시 즉각적 경고 부재</a:t>
            </a:r>
          </a:p>
          <a:p>
            <a:pPr>
              <a:spcBef>
                <a:spcPts val="1400"/>
              </a:spcBef>
              <a:defRPr sz="1300">
                <a:solidFill>
                  <a:srgbClr val="B3B3B3"/>
                </a:solidFill>
              </a:defRPr>
            </a:pPr>
            <a:r>
              <a:t>• 사후 경위 파악을 위한 데이터 기록 및 타임라인 구성의 어려움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232323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C853"/>
                </a:solidFill>
              </a:defRPr>
            </a:pPr>
            <a:r>
              <a:t>✅ SafeZoo AI 지능형 안전관제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YOLOv8/11 객체 탐지 알고리즘 기반 24시간 실시간 앵커 추적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SAFE / DANGER 다각형(Polygon) 구역 자동 판정 시스템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이탈 즉시 자동 스냅샷 저장 및 관제 센터 팝업/인박스 즉시 전송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CSV 데이터 베이스 축적으로 사고 통계 분석 및 위험 지역 도출 지원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SAFEZOO CONTROL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SafeZoo 시스템 전체 파이프라인 &amp;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965960" cy="3840480"/>
          </a:xfrm>
          <a:prstGeom prst="roundRect">
            <a:avLst/>
          </a:prstGeom>
          <a:solidFill>
            <a:srgbClr val="232323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965960" cy="457200"/>
          </a:xfrm>
          <a:prstGeom prst="round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01. 비전 입력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783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CCTV Video Stream</a:t>
            </a:r>
            <a:br/>
            <a:r>
              <a:t>(giraffe_cctv.mp4)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2011680"/>
            <a:ext cx="1965960" cy="3840480"/>
          </a:xfrm>
          <a:prstGeom prst="roundRect">
            <a:avLst/>
          </a:prstGeom>
          <a:solidFill>
            <a:srgbClr val="232323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7791" y="2011680"/>
            <a:ext cx="1965960" cy="457200"/>
          </a:xfrm>
          <a:prstGeom prst="round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7791" y="2011680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02. AI 탐지 엔진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1" y="2743200"/>
            <a:ext cx="1783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zoo_safety.py</a:t>
            </a:r>
            <a:br/>
            <a:r>
              <a:t>YOLO + Bottom Anchor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2011680"/>
            <a:ext cx="1965960" cy="3840480"/>
          </a:xfrm>
          <a:prstGeom prst="roundRect">
            <a:avLst/>
          </a:prstGeom>
          <a:solidFill>
            <a:srgbClr val="232323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84064" y="2011680"/>
            <a:ext cx="1965960" cy="4572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2011680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03. ROI 구역 판정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4" y="2743200"/>
            <a:ext cx="1783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SAFE vs DANGER</a:t>
            </a:r>
            <a:br/>
            <a:r>
              <a:t>Polygon Point 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0336" y="2011680"/>
            <a:ext cx="1965960" cy="3840480"/>
          </a:xfrm>
          <a:prstGeom prst="roundRect">
            <a:avLst/>
          </a:prstGeom>
          <a:solidFill>
            <a:srgbClr val="232323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0336" y="2011680"/>
            <a:ext cx="1965960" cy="457200"/>
          </a:xfrm>
          <a:prstGeom prst="round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0336" y="2011680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04. 이벤트 트리거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1776" y="2743200"/>
            <a:ext cx="1783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Snapshot JPG / Event CSV</a:t>
            </a:r>
            <a:br/>
            <a:r>
              <a:t>Control Center Inbox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36608" y="2011680"/>
            <a:ext cx="1965960" cy="3840480"/>
          </a:xfrm>
          <a:prstGeom prst="roundRect">
            <a:avLst/>
          </a:prstGeom>
          <a:solidFill>
            <a:srgbClr val="232323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436608" y="2011680"/>
            <a:ext cx="1965960" cy="457200"/>
          </a:xfrm>
          <a:prstGeom prst="round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36608" y="2011680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05. 통합 관제 대시보드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2743200"/>
            <a:ext cx="1783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zoo_vision.py</a:t>
            </a:r>
            <a:br/>
            <a:r>
              <a:t>Gradio + 5s Auto Refresh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SAFEZOO CONTROL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핵심 기술 1: YOLO 객체 추적 및 다각형 ROI 경계 판정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232323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50914"/>
                </a:solidFill>
              </a:defRPr>
            </a:pPr>
            <a:r>
              <a:t>🔍 객체 추적 &amp; 위치 판정 메커니즘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감시 클래스 지정: Giraffe(기린), Person(관람객/사육사) 모니터링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발지점(Bottom Anchor) 좌표 추출:</a:t>
            </a:r>
            <a:br/>
            <a:r>
              <a:t>x = (x1 + x2)/2,  y = y2 (지면 접촉부)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cv2.pointPolygonTest 다각형 테스트:</a:t>
            </a:r>
            <a:br/>
            <a:r>
              <a:t>SAFE_ZONE 내부에 발지점이 속하는지 실시간 판정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Lost Frame 관리: 최대 20프레임 미탐지 시 트랙 메모리 자동 정돈(prune)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37760" cy="4389120"/>
          </a:xfrm>
          <a:prstGeom prst="roundRect">
            <a:avLst/>
          </a:prstGeom>
          <a:solidFill>
            <a:srgbClr val="232323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92024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9B6F6"/>
                </a:solidFill>
              </a:defRPr>
            </a:pPr>
            <a:r>
              <a:t>💻 zoo_safety.py 핵심 로직 예시</a:t>
            </a:r>
          </a:p>
          <a:p>
            <a:pPr>
              <a:spcBef>
                <a:spcPts val="1200"/>
              </a:spcBef>
              <a:defRPr sz="1100">
                <a:solidFill>
                  <a:srgbClr val="B3B3B3"/>
                </a:solidFill>
                <a:latin typeface="Consolas"/>
              </a:defRPr>
            </a:pPr>
            <a:r>
              <a:t>SAFE_ZONE = np.array([</a:t>
            </a:r>
            <a:br/>
            <a:r>
              <a:t>    [40, 300], [180, 230], [420, 200],</a:t>
            </a:r>
            <a:br/>
            <a:r>
              <a:t>    [700, 210], [830, 280], [820, 360],</a:t>
            </a:r>
            <a:br/>
            <a:r>
              <a:t>    [650, 420], [430, 440], ...</a:t>
            </a:r>
            <a:br/>
            <a:r>
              <a:t>])</a:t>
            </a:r>
            <a:br/>
            <a:br/>
            <a:r>
              <a:t>def zone_label(px, py, frame_h):</a:t>
            </a:r>
            <a:br/>
            <a:r>
              <a:t>    if in_poly(px, py, SAFE_ZONE):</a:t>
            </a:r>
            <a:br/>
            <a:r>
              <a:t>        return 'SAFE', COLOR_SAFE</a:t>
            </a:r>
            <a:br/>
            <a:r>
              <a:t>    return 'DANGER', COLOR_DANGER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SAFEZOO CONTROL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핵심 기술 2: 상태 전이 감지 및 3중 이벤트 알림 파이프라인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232323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📸 스냅샷 자동 저장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snapshots/alert_YYYYMMDD_HHMMSS_id{N}.jpg</a:t>
            </a:r>
            <a:br/>
            <a:br/>
            <a:r>
              <a:t>위험 구역 진입 순간의 프레임을 고화질 JPG 파일로 즉시 캡처하여 증거 자료 보존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114800"/>
          </a:xfrm>
          <a:prstGeom prst="roundRect">
            <a:avLst/>
          </a:prstGeom>
          <a:solidFill>
            <a:srgbClr val="232323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0116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9B6F6"/>
                </a:solidFill>
              </a:defRPr>
            </a:pPr>
            <a:r>
              <a:t>📊 CSV 이벤트 로그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logs/zoo_events.csv</a:t>
            </a:r>
            <a:br/>
            <a:br/>
            <a:r>
              <a:t>시각, 카메라ID, TrackID, 객체, 구역, 이벤트유형(ZONE_EXIT), 심각도(HIGH), 신뢰도 수치 전파 저장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114800"/>
          </a:xfrm>
          <a:prstGeom prst="roundRect">
            <a:avLst/>
          </a:prstGeom>
          <a:solidFill>
            <a:srgbClr val="232323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0116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C853"/>
                </a:solidFill>
              </a:defRPr>
            </a:pPr>
            <a:r>
              <a:t>🚨 관제 센터 알림함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logs/control_center_inbox.txt</a:t>
            </a:r>
            <a:br/>
            <a:br/>
            <a:r>
              <a:t>'위험구역을 벗어났으니 다른 CCTV를 확인하세요'</a:t>
            </a:r>
            <a:br/>
            <a:r>
              <a:t>실시간 인박스 텍스트 파일 갱신 및 터미널 출력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SAFEZOO CONTROL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SafeZoo Vision: Gradio 기반 실시간 통합 관제보드 (zoo_vision.py)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232323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🖥️ 대시보드 레이아웃 &amp; UI 구성</a:t>
            </a:r>
          </a:p>
          <a:p>
            <a:pPr>
              <a:spcBef>
                <a:spcPts val="1200"/>
              </a:spcBef>
              <a:defRPr sz="1300">
                <a:solidFill>
                  <a:srgbClr val="B3B3B3"/>
                </a:solidFill>
              </a:defRPr>
            </a:pPr>
            <a:r>
              <a:t>• 다크 &amp; 레드 액센트 프리미엄 디자인 (safezoo.css 스타일 시트 적용)</a:t>
            </a:r>
          </a:p>
          <a:p>
            <a:pPr>
              <a:spcBef>
                <a:spcPts val="1200"/>
              </a:spcBef>
              <a:defRPr sz="1300">
                <a:solidFill>
                  <a:srgbClr val="B3B3B3"/>
                </a:solidFill>
              </a:defRPr>
            </a:pPr>
            <a:r>
              <a:t>• 실시간 감시 탭: CCTV 비디오 플레이어 (giraffe_cctv.mp4) 자동 재생</a:t>
            </a:r>
          </a:p>
          <a:p>
            <a:pPr>
              <a:spcBef>
                <a:spcPts val="1200"/>
              </a:spcBef>
              <a:defRPr sz="1300">
                <a:solidFill>
                  <a:srgbClr val="B3B3B3"/>
                </a:solidFill>
              </a:defRPr>
            </a:pPr>
            <a:r>
              <a:t>• 최근 알림 스냅샷 갤러리: 최신 6개 alert 스냅샷 모니터링</a:t>
            </a:r>
          </a:p>
          <a:p>
            <a:pPr>
              <a:spcBef>
                <a:spcPts val="1200"/>
              </a:spcBef>
              <a:defRPr sz="1300">
                <a:solidFill>
                  <a:srgbClr val="B3B3B3"/>
                </a:solidFill>
              </a:defRPr>
            </a:pPr>
            <a:r>
              <a:t>• 관제센터 알림함: 실시간 메시지 수신 텍스트 상자</a:t>
            </a:r>
          </a:p>
          <a:p>
            <a:pPr>
              <a:spcBef>
                <a:spcPts val="1200"/>
              </a:spcBef>
              <a:defRPr sz="1300">
                <a:solidFill>
                  <a:srgbClr val="B3B3B3"/>
                </a:solidFill>
              </a:defRPr>
            </a:pPr>
            <a:r>
              <a:t>• gr.Timer(5초): 5초 주기 자동 데이터 갱신으로 백그라운드 탐지 결과 동기화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566160" cy="4389120"/>
          </a:xfrm>
          <a:prstGeom prst="round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92024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🔔 LIVE CONTROL</a:t>
            </a:r>
          </a:p>
          <a:p>
            <a:pPr>
              <a:spcBef>
                <a:spcPts val="1600"/>
              </a:spcBef>
              <a:defRPr sz="1300">
                <a:solidFill>
                  <a:srgbClr val="FFFFFF"/>
                </a:solidFill>
              </a:defRPr>
            </a:pPr>
            <a:r>
              <a:t>카메라 ID: ZOO_CAM_GIRAFFE_01</a:t>
            </a:r>
            <a:br/>
            <a:r>
              <a:t>상태: 🔴 ALERT / 🟢 NORMAL</a:t>
            </a:r>
            <a:br/>
            <a:br/>
            <a:r>
              <a:t>위험 감지 시 비상 팝업 배너가 상단에 노출되어 관제요원의 즉각적 대처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SAFEZOO CONTROL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통계 및 KPI 분석: 데이터 기반 지능형 데이터 시각화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1371600"/>
          </a:xfrm>
          <a:prstGeom prst="roundRect">
            <a:avLst/>
          </a:prstGeom>
          <a:solidFill>
            <a:srgbClr val="232323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383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3B3B3"/>
                </a:solidFill>
              </a:defRPr>
            </a:pPr>
            <a:r>
              <a:t>총 이벤트 건수</a:t>
            </a:r>
          </a:p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COUNT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1371600"/>
          </a:xfrm>
          <a:prstGeom prst="roundRect">
            <a:avLst/>
          </a:prstGeom>
          <a:solidFill>
            <a:srgbClr val="232323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828800"/>
            <a:ext cx="3383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3B3B3"/>
                </a:solidFill>
              </a:defRPr>
            </a:pPr>
            <a:r>
              <a:t>HIGH 심각도 건수</a:t>
            </a:r>
          </a:p>
          <a:p>
            <a:pPr algn="ctr">
              <a:defRPr sz="2200" b="1">
                <a:solidFill>
                  <a:srgbClr val="E50914"/>
                </a:solidFill>
              </a:defRPr>
            </a:pPr>
            <a:r>
              <a:t>ALERTS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1371600"/>
          </a:xfrm>
          <a:prstGeom prst="roundRect">
            <a:avLst/>
          </a:prstGeom>
          <a:solidFill>
            <a:srgbClr val="232323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828800"/>
            <a:ext cx="3383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3B3B3"/>
                </a:solidFill>
              </a:defRPr>
            </a:pPr>
            <a:r>
              <a:t>활성 카메라 수</a:t>
            </a:r>
          </a:p>
          <a:p>
            <a:pPr algn="ctr">
              <a:defRPr sz="2200" b="1">
                <a:solidFill>
                  <a:srgbClr val="00C853"/>
                </a:solidFill>
              </a:defRPr>
            </a:pPr>
            <a:r>
              <a:t>CAMERAS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212080" cy="2743200"/>
          </a:xfrm>
          <a:prstGeom prst="roundRect">
            <a:avLst/>
          </a:prstGeom>
          <a:solidFill>
            <a:srgbClr val="232323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9B6F6"/>
                </a:solidFill>
              </a:defRPr>
            </a:pPr>
            <a:r>
              <a:t>📈 이벤트 유형별 분포 (BarPlot)</a:t>
            </a:r>
          </a:p>
          <a:p>
            <a:pPr>
              <a:spcBef>
                <a:spcPts val="1000"/>
              </a:spcBef>
              <a:defRPr sz="1300">
                <a:solidFill>
                  <a:srgbClr val="B3B3B3"/>
                </a:solidFill>
              </a:defRPr>
            </a:pPr>
            <a:r>
              <a:t>• ZONE_EXIT_DANGER 구역 이탈 건수 추적</a:t>
            </a:r>
            <a:br/>
            <a:r>
              <a:t>• 데이터프레임 groupby 자동 집계 시각화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91840"/>
            <a:ext cx="5212080" cy="2743200"/>
          </a:xfrm>
          <a:prstGeom prst="roundRect">
            <a:avLst/>
          </a:prstGeom>
          <a:solidFill>
            <a:srgbClr val="232323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🚨 심각도(Severity)별 분석 (BarPlot)</a:t>
            </a:r>
          </a:p>
          <a:p>
            <a:pPr>
              <a:spcBef>
                <a:spcPts val="1000"/>
              </a:spcBef>
              <a:defRPr sz="1300">
                <a:solidFill>
                  <a:srgbClr val="B3B3B3"/>
                </a:solidFill>
              </a:defRPr>
            </a:pPr>
            <a:r>
              <a:t>• HIGH vs NORMAL 위험 등급 분류</a:t>
            </a:r>
            <a:br/>
            <a:r>
              <a:t>• 시각별 안전 위협 빈도 패턴 분석 지원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SAFEZOO CONTROL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이벤트 히스토리 검색 &amp; 데이터 검색 기능 (Gradio Dataframe)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232323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🔎 실시간 키워드 필터링 &amp; 데이터 조회 파이프라인</a:t>
            </a:r>
          </a:p>
          <a:p>
            <a:pPr>
              <a:spcBef>
                <a:spcPts val="1400"/>
              </a:spcBef>
              <a:defRPr sz="1400">
                <a:solidFill>
                  <a:srgbClr val="B3B3B3"/>
                </a:solidFill>
              </a:defRPr>
            </a:pPr>
            <a:r>
              <a:t>• 키워드 대화형 필터: 검색창(kw.change) 입력 시 유형, 카메라, 메시지, 객체명 등 전 컬럼 실시간 라이브 필터링</a:t>
            </a:r>
          </a:p>
          <a:p>
            <a:pPr>
              <a:spcBef>
                <a:spcPts val="1400"/>
              </a:spcBef>
              <a:defRPr sz="1400">
                <a:solidFill>
                  <a:srgbClr val="B3B3B3"/>
                </a:solidFill>
              </a:defRPr>
            </a:pPr>
            <a:r>
              <a:t>• 한글 컬럼 매핑: detected_at(시각), camera_id(카메라), track_id(Track), object(객체), zone(구역), severity(심각도), confidence(신뢰도)</a:t>
            </a:r>
          </a:p>
          <a:p>
            <a:pPr>
              <a:spcBef>
                <a:spcPts val="1400"/>
              </a:spcBef>
              <a:defRPr sz="1400">
                <a:solidFill>
                  <a:srgbClr val="B3B3B3"/>
                </a:solidFill>
              </a:defRPr>
            </a:pPr>
            <a:r>
              <a:t>• 최근 50개 이벤트 역순 정렬(Table Limit 50)을 통해 최신 사고 기록 상단 노출</a:t>
            </a:r>
          </a:p>
          <a:p>
            <a:pPr>
              <a:spcBef>
                <a:spcPts val="1400"/>
              </a:spcBef>
              <a:defRPr sz="1400">
                <a:solidFill>
                  <a:srgbClr val="B3B3B3"/>
                </a:solidFill>
              </a:defRPr>
            </a:pPr>
            <a:r>
              <a:t>• 관제센터 알림함 전문(inbox_full) 동시 조회 지원으로 사고 경위 복원 용이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SAFEZOO CONTROL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SafeZoo 기술 스택 &amp; 다중 카메라 확장 로드맵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232323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9B6F6"/>
                </a:solidFill>
              </a:defRPr>
            </a:pPr>
            <a:r>
              <a:t>🛠️ Core Tech Stack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Python 3.10+ / OpenCV (비전 처리)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Ultralytics YOLOv8 / YOLOv11 (객체 탐지/추적)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Gradio 5.x (웹 관제 대시보드 UI)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Pandas &amp; NumPy (이벤트 통계 분석)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Custom CSS (다크 &amp; 레드 관제 UI 스타일링)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232323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C853"/>
                </a:solidFill>
              </a:defRPr>
            </a:pPr>
            <a:r>
              <a:t>🎥 Multi-Camera Scalability</a:t>
            </a:r>
          </a:p>
          <a:p>
            <a:pPr>
              <a:spcBef>
                <a:spcPts val="1200"/>
              </a:spcBef>
              <a:defRPr sz="1300">
                <a:solidFill>
                  <a:srgbClr val="B3B3B3"/>
                </a:solidFill>
              </a:defRPr>
            </a:pPr>
            <a:r>
              <a:t>• CAMERA 01: 사자 방사장 (동물 경계 이탈 감지)</a:t>
            </a:r>
          </a:p>
          <a:p>
            <a:pPr>
              <a:spcBef>
                <a:spcPts val="1200"/>
              </a:spcBef>
              <a:defRPr sz="1300">
                <a:solidFill>
                  <a:srgbClr val="B3B3B3"/>
                </a:solidFill>
              </a:defRPr>
            </a:pPr>
            <a:r>
              <a:t>• CAMERA 02: 기린 관람 구역 (SAFE/DANGER ROI)</a:t>
            </a:r>
          </a:p>
          <a:p>
            <a:pPr>
              <a:spcBef>
                <a:spcPts val="1200"/>
              </a:spcBef>
              <a:defRPr sz="1300">
                <a:solidFill>
                  <a:srgbClr val="B3B3B3"/>
                </a:solidFill>
              </a:defRPr>
            </a:pPr>
            <a:r>
              <a:t>• CAMERA 03: 펭귄 관람 구역 (관람객 위험행동 감지)</a:t>
            </a:r>
          </a:p>
          <a:p>
            <a:pPr>
              <a:spcBef>
                <a:spcPts val="1200"/>
              </a:spcBef>
              <a:defRPr sz="1300">
                <a:solidFill>
                  <a:srgbClr val="B3B3B3"/>
                </a:solidFill>
              </a:defRPr>
            </a:pPr>
            <a:r>
              <a:t>• CAMERA 04: 맹수사 출입 통로 (사람·동물 접근 확인)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18320" cy="4114800"/>
          </a:xfrm>
          <a:prstGeom prst="roundRect">
            <a:avLst/>
          </a:prstGeom>
          <a:solidFill>
            <a:srgbClr val="232323"/>
          </a:solidFill>
          <a:ln w="1270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828800"/>
            <a:ext cx="8869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SafeZoo: 모든 생명을 위한 안전한 시선</a:t>
            </a:r>
          </a:p>
          <a:p>
            <a:pPr algn="ctr">
              <a:spcBef>
                <a:spcPts val="1600"/>
              </a:spcBef>
              <a:defRPr sz="1800">
                <a:solidFill>
                  <a:srgbClr val="E50914"/>
                </a:solidFill>
              </a:defRPr>
            </a:pPr>
            <a:r>
              <a:t>24/7 AI 지능형 모니터링으로 안전한 동물원 관제 환경을 선도합니다.</a:t>
            </a:r>
          </a:p>
          <a:p>
            <a:br/>
            <a:pPr algn="ctr">
              <a:spcBef>
                <a:spcPts val="2400"/>
              </a:spcBef>
              <a:defRPr sz="2400" b="1">
                <a:solidFill>
                  <a:srgbClr val="B3B3B3"/>
                </a:solidFill>
              </a:defRPr>
            </a:pPr>
            <a:r>
              <a:t>Thank You!  | 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